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9144000"/>
  <p:notesSz cx="6858000" cy="9144000"/>
  <p:embeddedFontLst>
    <p:embeddedFont>
      <p:font typeface="Assistant SemiBold"/>
      <p:regular r:id="rId18"/>
      <p:bold r:id="rId19"/>
    </p:embeddedFont>
    <p:embeddedFont>
      <p:font typeface="Assistant ExtraBold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1" roundtripDataSignature="AMtx7miQfTbeNOIg0YGx/ErRdmqWPZOy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CCF777-A5C9-41F0-85DE-9EB521C92175}">
  <a:tblStyle styleId="{14CCF777-A5C9-41F0-85DE-9EB521C921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DE9E8"/>
          </a:solidFill>
        </a:fill>
      </a:tcStyle>
    </a:wholeTbl>
    <a:band1H>
      <a:tcTxStyle/>
      <a:tcStyle>
        <a:fill>
          <a:solidFill>
            <a:srgbClr val="D8D0CD"/>
          </a:solidFill>
        </a:fill>
      </a:tcStyle>
    </a:band1H>
    <a:band2H>
      <a:tcTxStyle/>
    </a:band2H>
    <a:band1V>
      <a:tcTxStyle/>
      <a:tcStyle>
        <a:fill>
          <a:solidFill>
            <a:srgbClr val="D8D0CD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  <a:tblStyle styleId="{C7992555-4BE3-4C7F-A17F-31693858CA3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AECE6"/>
          </a:solidFill>
        </a:fill>
      </a:tcStyle>
    </a:wholeTbl>
    <a:band1H>
      <a:tcTxStyle/>
      <a:tcStyle>
        <a:fill>
          <a:solidFill>
            <a:srgbClr val="F5D8CA"/>
          </a:solidFill>
        </a:fill>
      </a:tcStyle>
    </a:band1H>
    <a:band2H>
      <a:tcTxStyle/>
    </a:band2H>
    <a:band1V>
      <a:tcTxStyle/>
      <a:tcStyle>
        <a:fill>
          <a:solidFill>
            <a:srgbClr val="F5D8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ssistantExtra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AssistantSemiBold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Assistant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4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4"/>
          <p:cNvSpPr txBox="1"/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" type="subTitle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rt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rt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rt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rt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rt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rtl="1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14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22" name="Google Shape;22;p14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" type="body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2" type="body"/>
          </p:nvPr>
        </p:nvSpPr>
        <p:spPr>
          <a:xfrm>
            <a:off x="4663440" y="1845736"/>
            <a:ext cx="370332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showMasterSp="0" type="secHead">
  <p:cSld name="SECTION_HEADER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8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8"/>
          <p:cNvSpPr txBox="1"/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" type="body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rtl="1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1" algn="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49" name="Google Shape;49;p18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" type="body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19"/>
          <p:cNvSpPr txBox="1"/>
          <p:nvPr>
            <p:ph idx="2" type="body"/>
          </p:nvPr>
        </p:nvSpPr>
        <p:spPr>
          <a:xfrm>
            <a:off x="82296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3" type="body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19"/>
          <p:cNvSpPr txBox="1"/>
          <p:nvPr>
            <p:ph idx="4" type="body"/>
          </p:nvPr>
        </p:nvSpPr>
        <p:spPr>
          <a:xfrm>
            <a:off x="466344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showMasterSp="0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0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1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1"/>
          <p:cNvSpPr txBox="1"/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" type="body"/>
          </p:nvPr>
        </p:nvSpPr>
        <p:spPr>
          <a:xfrm>
            <a:off x="3460237" y="731520"/>
            <a:ext cx="5009393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2" type="body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rtl="1" algn="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1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1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1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1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1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1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1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1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2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2"/>
          <p:cNvSpPr txBox="1"/>
          <p:nvPr>
            <p:ph type="title"/>
          </p:nvPr>
        </p:nvSpPr>
        <p:spPr>
          <a:xfrm>
            <a:off x="822960" y="50749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/>
          <p:nvPr>
            <p:ph idx="2" type="pic"/>
          </p:nvPr>
        </p:nvSpPr>
        <p:spPr>
          <a:xfrm>
            <a:off x="12" y="0"/>
            <a:ext cx="9143989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200" spcFirstLastPara="1" rIns="0" wrap="square" tIns="457200">
            <a:normAutofit/>
          </a:bodyPr>
          <a:lstStyle>
            <a:lvl1pPr lvl="0" marR="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22"/>
          <p:cNvSpPr txBox="1"/>
          <p:nvPr>
            <p:ph idx="1" type="body"/>
          </p:nvPr>
        </p:nvSpPr>
        <p:spPr>
          <a:xfrm>
            <a:off x="822959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rtl="1" algn="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22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" type="body"/>
          </p:nvPr>
        </p:nvSpPr>
        <p:spPr>
          <a:xfrm rot="5400000">
            <a:off x="2583180" y="85514"/>
            <a:ext cx="4023360" cy="7543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4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4"/>
          <p:cNvSpPr txBox="1"/>
          <p:nvPr>
            <p:ph type="title"/>
          </p:nvPr>
        </p:nvSpPr>
        <p:spPr>
          <a:xfrm rot="5400000">
            <a:off x="4650802" y="2307652"/>
            <a:ext cx="5757421" cy="197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 rot="5400000">
            <a:off x="650302" y="393126"/>
            <a:ext cx="5757420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3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3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3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1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1" algn="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1" algn="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0" type="dt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1" type="ftr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13" name="Google Shape;13;p13"/>
          <p:cNvCxnSpPr/>
          <p:nvPr/>
        </p:nvCxnSpPr>
        <p:spPr>
          <a:xfrm>
            <a:off x="895149" y="1737845"/>
            <a:ext cx="74752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88" y="-9418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6856454" y="1004738"/>
            <a:ext cx="2160000" cy="2160000"/>
          </a:xfrm>
          <a:prstGeom prst="rect">
            <a:avLst/>
          </a:prstGeom>
          <a:solidFill>
            <a:srgbClr val="E9233E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4050" u="none" cap="none" strike="noStrike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מסע אל העבר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900" u="none" cap="none" strike="noStrike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קידמה ומהפכות</a:t>
            </a:r>
            <a:endParaRPr/>
          </a:p>
        </p:txBody>
      </p:sp>
      <p:grpSp>
        <p:nvGrpSpPr>
          <p:cNvPr id="103" name="Google Shape;103;p1"/>
          <p:cNvGrpSpPr/>
          <p:nvPr/>
        </p:nvGrpSpPr>
        <p:grpSpPr>
          <a:xfrm>
            <a:off x="-757640" y="1099297"/>
            <a:ext cx="685800" cy="3144584"/>
            <a:chOff x="-1102660" y="0"/>
            <a:chExt cx="914400" cy="4192779"/>
          </a:xfrm>
        </p:grpSpPr>
        <p:sp>
          <p:nvSpPr>
            <p:cNvPr id="104" name="Google Shape;104;p1"/>
            <p:cNvSpPr/>
            <p:nvPr/>
          </p:nvSpPr>
          <p:spPr>
            <a:xfrm>
              <a:off x="-1102660" y="0"/>
              <a:ext cx="914400" cy="914400"/>
            </a:xfrm>
            <a:prstGeom prst="ellipse">
              <a:avLst/>
            </a:prstGeom>
            <a:solidFill>
              <a:srgbClr val="E923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-1102660" y="1080247"/>
              <a:ext cx="914400" cy="914400"/>
            </a:xfrm>
            <a:prstGeom prst="ellipse">
              <a:avLst/>
            </a:prstGeom>
            <a:solidFill>
              <a:srgbClr val="F79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-1102660" y="2179313"/>
              <a:ext cx="914400" cy="914400"/>
            </a:xfrm>
            <a:prstGeom prst="ellipse">
              <a:avLst/>
            </a:prstGeom>
            <a:solidFill>
              <a:srgbClr val="C4E8F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-1102660" y="3278379"/>
              <a:ext cx="914400" cy="914400"/>
            </a:xfrm>
            <a:prstGeom prst="ellipse">
              <a:avLst/>
            </a:prstGeom>
            <a:solidFill>
              <a:srgbClr val="053B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"/>
          <p:cNvSpPr/>
          <p:nvPr/>
        </p:nvSpPr>
        <p:spPr>
          <a:xfrm>
            <a:off x="3648032" y="4338038"/>
            <a:ext cx="1847938" cy="365098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350" u="none" cap="none" strike="noStrike">
                <a:solidFill>
                  <a:srgbClr val="E9233E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המהפכה המדעית</a:t>
            </a:r>
            <a:endParaRPr b="1" i="0" sz="1350" u="none" cap="none" strike="noStrike">
              <a:solidFill>
                <a:srgbClr val="E9233E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467544" y="2072351"/>
            <a:ext cx="1094629" cy="2118094"/>
          </a:xfrm>
          <a:prstGeom prst="rect">
            <a:avLst/>
          </a:prstGeom>
          <a:solidFill>
            <a:srgbClr val="F792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עריכה: 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רונית נקר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עיצוב: 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רותם סירוק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lh3.googleusercontent.com/TmBIJiAaVV2cfMnWBNO3zIL1yE-scJ0rPwzFJaoO8xYjy1WUYrY4Ff8pEWPe9kwlLnzw4RargtPV7d0U0_kC27lLcdeAOCPgF7lqDvs8YoWi5iEhPDAPCrD9fLZyq6XV6Y-L85umJN0" id="110" name="Google Shape;110;p1"/>
          <p:cNvPicPr preferRelativeResize="0"/>
          <p:nvPr/>
        </p:nvPicPr>
        <p:blipFill rotWithShape="1">
          <a:blip r:embed="rId4">
            <a:alphaModFix/>
          </a:blip>
          <a:srcRect b="87608" l="19196" r="14627" t="0"/>
          <a:stretch/>
        </p:blipFill>
        <p:spPr>
          <a:xfrm>
            <a:off x="5488486" y="6093296"/>
            <a:ext cx="3630706" cy="45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/>
          <p:nvPr/>
        </p:nvSpPr>
        <p:spPr>
          <a:xfrm>
            <a:off x="8128260" y="5018372"/>
            <a:ext cx="810000" cy="810000"/>
          </a:xfrm>
          <a:prstGeom prst="rect">
            <a:avLst/>
          </a:prstGeom>
          <a:solidFill>
            <a:srgbClr val="F792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-12031" y="4288950"/>
            <a:ext cx="336884" cy="1711800"/>
          </a:xfrm>
          <a:prstGeom prst="rect">
            <a:avLst/>
          </a:prstGeom>
          <a:solidFill>
            <a:srgbClr val="E9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4644008" y="116632"/>
            <a:ext cx="4183380" cy="1800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4E8F8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4050">
                <a:solidFill>
                  <a:srgbClr val="FF0000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מהפכה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50">
              <a:solidFill>
                <a:srgbClr val="C4E8F8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4E8F8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2286000" y="1351508"/>
            <a:ext cx="6318448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4400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מהפכה היא אירוע בהיסטוריה ששינה את פני החברה האנושית ע"י כך שחוללה שינוי ניכר באחד מתחומי החיים.</a:t>
            </a:r>
            <a:endParaRPr b="1" sz="4400">
              <a:solidFill>
                <a:srgbClr val="464653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00"/>
              <a:buFont typeface="Calibri"/>
              <a:buNone/>
            </a:pPr>
            <a:r>
              <a:rPr b="1" lang="iw-IL" sz="4800" u="sng">
                <a:solidFill>
                  <a:srgbClr val="C00000"/>
                </a:solidFill>
              </a:rPr>
              <a:t>מהי ה"מהפכה המדעית"?</a:t>
            </a:r>
            <a:endParaRPr b="1" sz="4800">
              <a:solidFill>
                <a:srgbClr val="C00000"/>
              </a:solidFill>
            </a:endParaRPr>
          </a:p>
        </p:txBody>
      </p:sp>
      <p:sp>
        <p:nvSpPr>
          <p:cNvPr id="124" name="Google Shape;124;p3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1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iw-IL"/>
              <a:t>כינוי לסדרת </a:t>
            </a:r>
            <a:r>
              <a:rPr b="1" lang="iw-IL"/>
              <a:t>גילויים חדשים </a:t>
            </a:r>
            <a:r>
              <a:rPr lang="iw-IL"/>
              <a:t>באסטרונומיה, פיזיקה, ביולוגיה ורפואה, שהתרחשו באירופה </a:t>
            </a:r>
            <a:r>
              <a:rPr b="1" lang="iw-IL"/>
              <a:t>במאות ה – 16 – 17 </a:t>
            </a:r>
            <a:r>
              <a:rPr lang="iw-IL"/>
              <a:t>והובילו לשינוי בצורת החשיבה במדע, פילוסופיה ותרבות. </a:t>
            </a:r>
            <a:endParaRPr/>
          </a:p>
          <a:p>
            <a:pPr indent="0" lvl="0" marL="0" rtl="1" algn="ctr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SzPts val="4000"/>
              <a:buNone/>
            </a:pPr>
            <a:r>
              <a:rPr b="1" lang="iw-IL" sz="4000" u="sng">
                <a:solidFill>
                  <a:srgbClr val="C00000"/>
                </a:solidFill>
              </a:rPr>
              <a:t>מדוע זאת מהפכה? </a:t>
            </a:r>
            <a:endParaRPr/>
          </a:p>
          <a:p>
            <a:pPr indent="0" lvl="0" marL="0" rtl="1" algn="r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iw-IL"/>
              <a:t>עד המאה ה-16, מה שהיה כתוב ב</a:t>
            </a:r>
            <a:r>
              <a:rPr lang="iw-IL" u="sng"/>
              <a:t>ספרי הקודש</a:t>
            </a:r>
            <a:r>
              <a:rPr lang="iw-IL"/>
              <a:t>, נחשב ל</a:t>
            </a:r>
            <a:r>
              <a:rPr lang="iw-IL" u="sng"/>
              <a:t>אמת מוחלטת</a:t>
            </a:r>
            <a:r>
              <a:rPr lang="iw-IL"/>
              <a:t>  ש</a:t>
            </a:r>
            <a:r>
              <a:rPr lang="iw-IL" u="sng"/>
              <a:t>אסור לערער עליה</a:t>
            </a:r>
            <a:r>
              <a:rPr lang="iw-IL"/>
              <a:t>. הם האמינו  ש</a:t>
            </a:r>
            <a:r>
              <a:rPr b="1" lang="iw-IL"/>
              <a:t>כדור הארץ נמצא במרכז היקום ושהשמש מסתובבת סביב כדור הארץ.</a:t>
            </a:r>
            <a:endParaRPr b="1" sz="4000"/>
          </a:p>
        </p:txBody>
      </p:sp>
      <p:sp>
        <p:nvSpPr>
          <p:cNvPr id="125" name="Google Shape;125;p3"/>
          <p:cNvSpPr/>
          <p:nvPr/>
        </p:nvSpPr>
        <p:spPr>
          <a:xfrm>
            <a:off x="7884368" y="101831"/>
            <a:ext cx="914400" cy="914400"/>
          </a:xfrm>
          <a:prstGeom prst="ellipse">
            <a:avLst/>
          </a:prstGeom>
          <a:solidFill>
            <a:srgbClr val="F792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57200" y="3140968"/>
            <a:ext cx="914400" cy="914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alibri"/>
              <a:buNone/>
            </a:pPr>
            <a:r>
              <a:rPr lang="iw-IL" sz="4400"/>
              <a:t>המהפכה המדעית</a:t>
            </a:r>
            <a:endParaRPr/>
          </a:p>
        </p:txBody>
      </p:sp>
      <p:graphicFrame>
        <p:nvGraphicFramePr>
          <p:cNvPr id="132" name="Google Shape;132;p4"/>
          <p:cNvGraphicFramePr/>
          <p:nvPr/>
        </p:nvGraphicFramePr>
        <p:xfrm>
          <a:off x="822325" y="18462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{14CCF777-A5C9-41F0-85DE-9EB521C92175}</a:tableStyleId>
              </a:tblPr>
              <a:tblGrid>
                <a:gridCol w="2514600"/>
                <a:gridCol w="2550425"/>
                <a:gridCol w="2478775"/>
              </a:tblGrid>
              <a:tr h="1604075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400" u="none" cap="none" strike="noStrike">
                          <a:solidFill>
                            <a:schemeClr val="dk1"/>
                          </a:solidFill>
                        </a:rPr>
                        <a:t>נקודות להשוואה</a:t>
                      </a:r>
                      <a:endParaRPr/>
                    </a:p>
                  </a:txBody>
                  <a:tcPr marT="45725" marB="45725" marR="83825" marL="83825">
                    <a:solidFill>
                      <a:srgbClr val="FFC0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400" u="none" cap="none" strike="noStrike">
                          <a:solidFill>
                            <a:schemeClr val="dk1"/>
                          </a:solidFill>
                        </a:rPr>
                        <a:t>שיטות מחקר בימי הביניים</a:t>
                      </a:r>
                      <a:endParaRPr/>
                    </a:p>
                  </a:txBody>
                  <a:tcPr marT="45725" marB="45725" marR="83825" marL="83825">
                    <a:solidFill>
                      <a:srgbClr val="FFC0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400" u="none" cap="none" strike="noStrike">
                          <a:solidFill>
                            <a:schemeClr val="dk1"/>
                          </a:solidFill>
                        </a:rPr>
                        <a:t>שיטות מחקר בעת החדשה</a:t>
                      </a:r>
                      <a:endParaRPr/>
                    </a:p>
                  </a:txBody>
                  <a:tcPr marT="45725" marB="45725" marR="83825" marL="83825">
                    <a:solidFill>
                      <a:srgbClr val="FFC000">
                        <a:alpha val="89803"/>
                      </a:srgbClr>
                    </a:solidFill>
                  </a:tcPr>
                </a:tc>
              </a:tr>
              <a:tr h="110980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000" u="none" cap="none" strike="noStrike"/>
                        <a:t>על פי מה נקבעו הכללים המדעיים?</a:t>
                      </a:r>
                      <a:endParaRPr/>
                    </a:p>
                  </a:txBody>
                  <a:tcPr marT="45725" marB="45725" marR="83825" marL="83825">
                    <a:solidFill>
                      <a:srgbClr val="D8CDB9">
                        <a:alpha val="9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000" u="none" cap="none" strike="noStrike"/>
                        <a:t>על פי הכתוב בתנ"ך, בברית החדשה</a:t>
                      </a:r>
                      <a:endParaRPr/>
                    </a:p>
                  </a:txBody>
                  <a:tcPr marT="45725" marB="45725" marR="83825" marL="83825">
                    <a:solidFill>
                      <a:srgbClr val="D8CDB9">
                        <a:alpha val="9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000" u="none" cap="none" strike="noStrike"/>
                        <a:t>תצפיות וניסויים.</a:t>
                      </a:r>
                      <a:endParaRPr/>
                    </a:p>
                  </a:txBody>
                  <a:tcPr marT="45725" marB="45725" marR="83825" marL="83825">
                    <a:solidFill>
                      <a:srgbClr val="D8CDB9">
                        <a:alpha val="92941"/>
                      </a:srgbClr>
                    </a:solidFill>
                  </a:tcPr>
                </a:tc>
              </a:tr>
              <a:tr h="1665975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000" u="none" cap="none" strike="noStrike"/>
                        <a:t>המחקר</a:t>
                      </a:r>
                      <a:endParaRPr/>
                    </a:p>
                  </a:txBody>
                  <a:tcPr marT="45725" marB="45725" marR="83825" marL="83825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באותה תקופה אנשים האמינו במה שהם יכולים לראות(הסתכלות על הסובב אותם צמחים בע"ח) ובדברים שהיו כתובים בכתבי הקודש</a:t>
                      </a:r>
                      <a:endParaRPr sz="2000" u="none" cap="none" strike="noStrike"/>
                    </a:p>
                  </a:txBody>
                  <a:tcPr marT="45725" marB="45725" marR="83825" marL="83825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2000" u="none" cap="none" strike="noStrike"/>
                        <a:t>בנוסף לאלו שהיו מקובלים: חישובים מתמטיים מדויקים: שימוש במכשיר עזר (הטלסקופ)ועריכת ניסויים בעזרת כלים אלה.</a:t>
                      </a:r>
                      <a:endParaRPr/>
                    </a:p>
                  </a:txBody>
                  <a:tcPr marT="45725" marB="45725" marR="83825" marL="83825"/>
                </a:tc>
              </a:tr>
            </a:tbl>
          </a:graphicData>
        </a:graphic>
      </p:graphicFrame>
      <p:sp>
        <p:nvSpPr>
          <p:cNvPr id="133" name="Google Shape;133;p4"/>
          <p:cNvSpPr/>
          <p:nvPr/>
        </p:nvSpPr>
        <p:spPr>
          <a:xfrm>
            <a:off x="120316" y="22515"/>
            <a:ext cx="336884" cy="1711800"/>
          </a:xfrm>
          <a:prstGeom prst="rect">
            <a:avLst/>
          </a:prstGeom>
          <a:solidFill>
            <a:srgbClr val="E9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57200" y="1008300"/>
            <a:ext cx="336884" cy="1711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/>
          <p:nvPr>
            <p:ph type="title"/>
          </p:nvPr>
        </p:nvSpPr>
        <p:spPr>
          <a:xfrm>
            <a:off x="457200" y="274638"/>
            <a:ext cx="8229600" cy="1439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739B"/>
              </a:buClr>
              <a:buSzPts val="4800"/>
              <a:buFont typeface="Calibri"/>
              <a:buNone/>
            </a:pPr>
            <a:r>
              <a:rPr b="1" lang="iw-IL" sz="4800">
                <a:solidFill>
                  <a:srgbClr val="3F739B"/>
                </a:solidFill>
              </a:rPr>
              <a:t>המהפכה המדעית במאה ה-16</a:t>
            </a:r>
            <a:endParaRPr/>
          </a:p>
        </p:txBody>
      </p:sp>
      <p:pic>
        <p:nvPicPr>
          <p:cNvPr descr="http://most.gov.il/PublishingImages/Kehila.jpg"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4414" y="2571744"/>
            <a:ext cx="68961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>
            <p:ph type="title"/>
          </p:nvPr>
        </p:nvSpPr>
        <p:spPr>
          <a:xfrm>
            <a:off x="285720" y="214290"/>
            <a:ext cx="8229600" cy="12747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320"/>
              <a:buFont typeface="Calibri"/>
              <a:buNone/>
            </a:pPr>
            <a:br>
              <a:rPr lang="iw-IL" sz="4320"/>
            </a:br>
            <a:r>
              <a:rPr b="1" lang="iw-IL" sz="4770"/>
              <a:t>ניקולס קופרניקוס</a:t>
            </a:r>
            <a:br>
              <a:rPr lang="iw-IL" sz="4320"/>
            </a:br>
            <a:endParaRPr sz="4320"/>
          </a:p>
        </p:txBody>
      </p:sp>
      <p:pic>
        <p:nvPicPr>
          <p:cNvPr descr="http://www.ranlevi.com/wp-content/uploads/2012/05/Nikolaus_Kopernikus.jpg" id="146" name="Google Shape;1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604" y="1643050"/>
            <a:ext cx="5295900" cy="5000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iw-IL" sz="6000">
                <a:solidFill>
                  <a:srgbClr val="C00000"/>
                </a:solidFill>
              </a:rPr>
              <a:t>ניקולס קופרניקוס</a:t>
            </a:r>
            <a:endParaRPr sz="6000">
              <a:solidFill>
                <a:srgbClr val="C00000"/>
              </a:solidFill>
            </a:endParaRPr>
          </a:p>
        </p:txBody>
      </p:sp>
      <p:sp>
        <p:nvSpPr>
          <p:cNvPr id="152" name="Google Shape;152;p7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165" lvl="0" marL="91440"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790"/>
              <a:buChar char=" "/>
            </a:pPr>
            <a:r>
              <a:rPr lang="iw-IL" sz="2790"/>
              <a:t>קופרניקוס, שעסק באסטרונומיה, ערך מחקר בעזרת חישובים מתמטיים מדויקים יותר ממה שנעשו עד אז, והגיע למסקנה, ש</a:t>
            </a:r>
            <a:r>
              <a:rPr b="1" lang="iw-IL" sz="2790"/>
              <a:t>השמש היא מרכז היקום</a:t>
            </a:r>
            <a:r>
              <a:rPr lang="iw-IL" sz="2790"/>
              <a:t> ולא כדור הארץ, ושכדור הארץ ושאר כוכבי הלכת סובבים סביבה. תפיסה זו </a:t>
            </a:r>
            <a:r>
              <a:rPr b="1" lang="iw-IL" sz="2790"/>
              <a:t>מנוגדת</a:t>
            </a:r>
            <a:r>
              <a:rPr lang="iw-IL" sz="2790"/>
              <a:t> </a:t>
            </a:r>
            <a:r>
              <a:rPr b="1" lang="iw-IL" sz="2790"/>
              <a:t>לחלוטין </a:t>
            </a:r>
            <a:r>
              <a:rPr lang="iw-IL" sz="2790"/>
              <a:t> למה שחשבו והאמינו באותה תקופה שהשמש היא במרכז היקום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iw-IL"/>
              <a:t>מהפכה מדעית קופרניקוס</a:t>
            </a:r>
            <a:endParaRPr b="1"/>
          </a:p>
        </p:txBody>
      </p:sp>
      <p:sp>
        <p:nvSpPr>
          <p:cNvPr id="158" name="Google Shape;158;p8"/>
          <p:cNvSpPr txBox="1"/>
          <p:nvPr>
            <p:ph idx="1" type="body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iw-IL">
                <a:solidFill>
                  <a:srgbClr val="FF0000"/>
                </a:solidFill>
              </a:rPr>
              <a:t>התאוריה ההליוצנטרית</a:t>
            </a:r>
            <a:endParaRPr/>
          </a:p>
          <a:p>
            <a:pPr indent="-127000" lvl="0" marL="91440" rtl="1" algn="r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iw-IL"/>
              <a:t>הליוס=שמש צנטרית=מרכז</a:t>
            </a:r>
            <a:endParaRPr/>
          </a:p>
          <a:p>
            <a:pPr indent="0" lvl="0" marL="91440" rtl="1" algn="r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27000" lvl="0" marL="91440" rtl="1" algn="r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iw-IL"/>
              <a:t>אחרי המהפכה השמש היא במרכז היקום ושאר הכוכבים נעים סביב השמש</a:t>
            </a:r>
            <a:endParaRPr/>
          </a:p>
          <a:p>
            <a:pPr indent="0" lvl="0" marL="91440" rtl="1" algn="r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91440" rtl="1" algn="r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91440" rtl="1" algn="r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27000" lvl="0" marL="91440" rtl="1" algn="ctr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iw-IL">
                <a:solidFill>
                  <a:srgbClr val="002060"/>
                </a:solidFill>
              </a:rPr>
              <a:t>  המדענים</a:t>
            </a:r>
            <a:endParaRPr/>
          </a:p>
        </p:txBody>
      </p:sp>
      <p:sp>
        <p:nvSpPr>
          <p:cNvPr id="159" name="Google Shape;159;p8"/>
          <p:cNvSpPr txBox="1"/>
          <p:nvPr>
            <p:ph idx="2" type="body"/>
          </p:nvPr>
        </p:nvSpPr>
        <p:spPr>
          <a:xfrm>
            <a:off x="4663440" y="1845736"/>
            <a:ext cx="370332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iw-IL">
                <a:solidFill>
                  <a:srgbClr val="FF0000"/>
                </a:solidFill>
              </a:rPr>
              <a:t>התיאוריה הגאוצנטרית</a:t>
            </a:r>
            <a:endParaRPr>
              <a:solidFill>
                <a:srgbClr val="FF0000"/>
              </a:solidFill>
            </a:endParaRPr>
          </a:p>
          <a:p>
            <a:pPr indent="-127000" lvl="0" marL="91440" rtl="1" algn="r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iw-IL"/>
              <a:t>גאו=ארץ צנטרון מרכז</a:t>
            </a:r>
            <a:endParaRPr/>
          </a:p>
          <a:p>
            <a:pPr indent="0" lvl="0" marL="91440" rtl="1" algn="r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27000" lvl="0" marL="91440" rtl="1" algn="r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iw-IL"/>
              <a:t>לפני המהפכה האמינו כי כדור הארץ נמצא במרכז היקום והשמש ושאר הכוכבים נעים מסביב</a:t>
            </a:r>
            <a:endParaRPr/>
          </a:p>
          <a:p>
            <a:pPr indent="0" lvl="0" marL="0" rtl="1" algn="ctr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1" algn="ctr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>
              <a:solidFill>
                <a:srgbClr val="002060"/>
              </a:solidFill>
            </a:endParaRPr>
          </a:p>
          <a:p>
            <a:pPr indent="0" lvl="0" marL="0" rtl="1" algn="ctr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>
              <a:solidFill>
                <a:srgbClr val="002060"/>
              </a:solidFill>
            </a:endParaRPr>
          </a:p>
          <a:p>
            <a:pPr indent="0" lvl="0" marL="0" rtl="1" algn="ctr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iw-IL">
                <a:solidFill>
                  <a:srgbClr val="002060"/>
                </a:solidFill>
              </a:rPr>
              <a:t>הכנסייה</a:t>
            </a:r>
            <a:endParaRPr b="1">
              <a:solidFill>
                <a:srgbClr val="002060"/>
              </a:solidFill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660232" y="4214818"/>
            <a:ext cx="98917" cy="57150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A65F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2699792" y="4214818"/>
            <a:ext cx="72008" cy="57150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A65F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alibri"/>
              <a:buNone/>
            </a:pPr>
            <a:r>
              <a:rPr b="1" lang="iw-IL" sz="4400"/>
              <a:t>התנגדות לרעיונותיו של קופרניקוס</a:t>
            </a:r>
            <a:endParaRPr b="1" sz="4400"/>
          </a:p>
        </p:txBody>
      </p:sp>
      <p:sp>
        <p:nvSpPr>
          <p:cNvPr id="167" name="Google Shape;167;p9"/>
          <p:cNvSpPr txBox="1"/>
          <p:nvPr>
            <p:ph idx="1" type="body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27000" lvl="0" marL="91440" rtl="1" algn="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iw-IL"/>
              <a:t>.</a:t>
            </a:r>
            <a:endParaRPr/>
          </a:p>
          <a:p>
            <a:pPr indent="0" lvl="0" marL="91440" rtl="1" algn="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27000" lvl="0" marL="91440" rtl="1" algn="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iw-IL">
                <a:solidFill>
                  <a:srgbClr val="FF0000"/>
                </a:solidFill>
              </a:rPr>
              <a:t>כל פלגי הכנסייה יצאו נגד תורתו המהפכנית של קופרניקוס וחל איסור להפיץ את סיפרו. ( הכניסו את סיפרו לרשימת הספרים האסורים)</a:t>
            </a:r>
            <a:endParaRPr/>
          </a:p>
          <a:p>
            <a:pPr indent="0" lvl="0" marL="91440" rtl="1" algn="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27000" lvl="0" marL="91440" rtl="1" algn="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iw-IL"/>
              <a:t>אנשי הרוח ( סופרים, משוררים ופילוסופים) שללו אף הם את התיאוריה ההליוצנטרית.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>
            <p:ph type="title"/>
          </p:nvPr>
        </p:nvSpPr>
        <p:spPr>
          <a:xfrm>
            <a:off x="428596" y="404664"/>
            <a:ext cx="8229600" cy="29523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b="1" lang="iw-IL" sz="2800"/>
              <a:t>במאי  2010 הביאה הכנסייה את שרידי גופתו של קופרניקוס לקבורה מחדש ללא ציון שמו על המצבה </a:t>
            </a:r>
            <a:br>
              <a:rPr b="1" lang="iw-IL" sz="2800"/>
            </a:br>
            <a:r>
              <a:rPr b="1" lang="iw-IL" sz="2800"/>
              <a:t>ובכך הביעה הכנסייה את קבלת תורתו.</a:t>
            </a:r>
            <a:br>
              <a:rPr b="1" lang="iw-IL" sz="2800"/>
            </a:br>
            <a:r>
              <a:rPr b="1" lang="iw-IL" sz="2800"/>
              <a:t>על המצבה נחרת דגם של מערכת השמש.</a:t>
            </a:r>
            <a:br>
              <a:rPr b="1" lang="iw-IL" sz="2800"/>
            </a:br>
            <a:br>
              <a:rPr lang="iw-IL"/>
            </a:br>
            <a:endParaRPr/>
          </a:p>
        </p:txBody>
      </p:sp>
      <p:pic>
        <p:nvPicPr>
          <p:cNvPr descr="http://lib.cet.ac.il/storage/items/22400_22499/0000022431/22431_m.jpg" id="173" name="Google Shape;1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7704" y="2420888"/>
            <a:ext cx="5643602" cy="3357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b="1" lang="iw-IL" sz="4000"/>
              <a:t>ניקולס </a:t>
            </a:r>
            <a:r>
              <a:rPr b="1" lang="iw-IL" sz="4000">
                <a:latin typeface="Arial"/>
                <a:ea typeface="Arial"/>
                <a:cs typeface="Arial"/>
                <a:sym typeface="Arial"/>
              </a:rPr>
              <a:t>קופרניקוס</a:t>
            </a:r>
            <a:endParaRPr b="1" sz="4000"/>
          </a:p>
        </p:txBody>
      </p:sp>
      <p:graphicFrame>
        <p:nvGraphicFramePr>
          <p:cNvPr id="179" name="Google Shape;179;p11"/>
          <p:cNvGraphicFramePr/>
          <p:nvPr/>
        </p:nvGraphicFramePr>
        <p:xfrm>
          <a:off x="822325" y="18462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{C7992555-4BE3-4C7F-A17F-31693858CA3C}</a:tableStyleId>
              </a:tblPr>
              <a:tblGrid>
                <a:gridCol w="3771900"/>
                <a:gridCol w="3771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83825" marL="83825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83825" marL="838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 u="none" cap="none" strike="noStrike"/>
                        <a:t>שנות חייו</a:t>
                      </a:r>
                      <a:endParaRPr/>
                    </a:p>
                  </a:txBody>
                  <a:tcPr marT="45725" marB="45725" marR="83825" marL="83825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83825" marL="838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 u="none" cap="none" strike="noStrike"/>
                        <a:t>ארץ מוצא</a:t>
                      </a:r>
                      <a:endParaRPr/>
                    </a:p>
                  </a:txBody>
                  <a:tcPr marT="45725" marB="45725" marR="83825" marL="83825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83825" marL="838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 u="none" cap="none" strike="noStrike"/>
                        <a:t>תגליות רעיונות +הסבר</a:t>
                      </a:r>
                      <a:endParaRPr/>
                    </a:p>
                  </a:txBody>
                  <a:tcPr marT="45725" marB="45725" marR="83825" marL="83825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83825" marL="838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 u="none" cap="none" strike="noStrike"/>
                        <a:t>על מה הסתמך המדען בעבודתו</a:t>
                      </a:r>
                      <a:endParaRPr/>
                    </a:p>
                  </a:txBody>
                  <a:tcPr marT="45725" marB="45725" marR="83825" marL="83825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83825" marL="838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 u="none" cap="none" strike="noStrike"/>
                        <a:t>יחס הממסד הדתי</a:t>
                      </a:r>
                      <a:endParaRPr/>
                    </a:p>
                  </a:txBody>
                  <a:tcPr marT="45725" marB="45725" marR="83825" marL="83825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83825" marL="83825"/>
                </a:tc>
              </a:tr>
              <a:tr h="2413650"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-IL" sz="1800" u="none" cap="none" strike="noStrike"/>
                        <a:t>מהי המהפכה שחולל</a:t>
                      </a:r>
                      <a:endParaRPr/>
                    </a:p>
                  </a:txBody>
                  <a:tcPr marT="45725" marB="45725" marR="83825" marL="83825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83825" marL="838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מבט לאחור">
  <a:themeElements>
    <a:clrScheme name="מבט לאחור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2013-09-30T19:39:05Z</dcterms:created>
  <dc:creator>User</dc:creator>
</cp:coreProperties>
</file>